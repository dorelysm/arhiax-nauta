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CONSULTING GROUP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Tiene 21 años.
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D8D2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Empezó con cambios de personalidad.
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D8D2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Pasaron seis meses
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D8D2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que alguien dijera la palabra correcta.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898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Colombia, el peregrinaje diagnóstico no es metáfora.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sentencia.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Nauta · navegador clínico digital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Nauta · Sinergia Consulting Group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ya no oculta el dolor.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cifras de 2025 que cuentan la misma historia.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CD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246888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2,2M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PQRS contra EPS en 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5.648 reclamaciones cada día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3774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CD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554480"/>
            <a:ext cx="73152" cy="246888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691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312K+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611880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tutelas en salud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Defensoría del Pueblo, 2025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3774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CD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54480"/>
            <a:ext cx="73152" cy="246888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691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446520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satisfacción nacional con EPS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cayó 10 puntos en un año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Contraloría General · Supersalud · Defensoría · MinSalud, 2025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Nauta · Sinergia Consulting Group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perdió dinero porque atendió mal.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Perdió porque atendió tarde.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93192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TARDÍO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Discapacidad neuropsiquiátrica permanente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funcional &gt; 18 meses incluso con tratamiento posterior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Hospitalizaciones recurrentes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Tutela como única vía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39319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C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91640"/>
            <a:ext cx="3931920" cy="32004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21945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Inmunoterapia oportuna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 de pacientes responde al tratamiento de primera línea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Retorno a vida funcional, estudios, trabajo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Hospitalización evitada · costo evitado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Encefalitis autoinmune · Graus et al. 2016 · cohorte urgencias neurológicas 2022 (n=9.046)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Nauta · Sinergia Consulting Group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pasa esto?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falta de médicos buenos.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falta de tecnología médica.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falta de regulación.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8046720" cy="128016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108960"/>
            <a:ext cx="109728" cy="128016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004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del paciente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viaja con el paciente.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Nauta · Sinergia Consulting Group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una ventana abierta.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primera vez en la historia del sistema colombiano.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6F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1888 de 2025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Obliga a interoperabilidad de historia clínica electrónica bajo estándar FHIR · Resumen Digital de Atención (RDA)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implementación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8046720" cy="228600"/>
          </a:xfrm>
          <a:prstGeom prst="rect">
            <a:avLst/>
          </a:prstGeom>
          <a:solidFill>
            <a:srgbClr val="E0DCD3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337560"/>
            <a:ext cx="4023360" cy="22860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0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pregunta no es si alguien va a construir sobre ese estándar.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quién.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Nauta · Sinergia Consulting Group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0" kern="0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NAUTA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navegador clínico digital colombiano que organiza
</a:t>
            </a:r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trayectoria del paciente con enfermedad crónica compleja
</a:t>
            </a:r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IPS, bajo gobernanza ejecutable,
</a:t>
            </a:r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conforme nativamente al estándar IHCE
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98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para que el peregrinaje diagnóstico deje de ser una sentencia.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1874520" cy="365760"/>
          </a:xfrm>
          <a:prstGeom prst="rect">
            <a:avLst/>
          </a:prstGeom>
          <a:solidFill>
            <a:srgbClr val="060D18"/>
          </a:solidFill>
          <a:ln w="9525">
            <a:solidFill>
              <a:srgbClr val="8B6F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60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· no diagnostica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4160520"/>
            <a:ext cx="1874520" cy="365760"/>
          </a:xfrm>
          <a:prstGeom prst="rect">
            <a:avLst/>
          </a:prstGeom>
          <a:solidFill>
            <a:srgbClr val="060D18"/>
          </a:solidFill>
          <a:ln w="9525">
            <a:solidFill>
              <a:srgbClr val="8B6F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4160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conforme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4160520"/>
            <a:ext cx="1874520" cy="365760"/>
          </a:xfrm>
          <a:prstGeom prst="rect">
            <a:avLst/>
          </a:prstGeom>
          <a:solidFill>
            <a:srgbClr val="060D18"/>
          </a:solidFill>
          <a:ln w="9525">
            <a:solidFill>
              <a:srgbClr val="8B6F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4160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Rego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20840" y="4160520"/>
            <a:ext cx="1874520" cy="365760"/>
          </a:xfrm>
          <a:prstGeom prst="rect">
            <a:avLst/>
          </a:prstGeom>
          <a:solidFill>
            <a:srgbClr val="060D18"/>
          </a:solidFill>
          <a:ln w="9525">
            <a:solidFill>
              <a:srgbClr val="8B6F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4160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autoinmunes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Nauta · Sinergia Consulting Group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capas concéntricas. Cada una con su propia función de defensa.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73152" cy="603504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89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Open 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36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HAPI FHIR · OPA · CDS Hooks · PostgreSQL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12080" y="1490472"/>
            <a:ext cx="2286000" cy="182880"/>
          </a:xfrm>
          <a:prstGeom prst="rect">
            <a:avLst/>
          </a:prstGeom>
          <a:solidFill>
            <a:srgbClr val="E8E4DC"/>
          </a:solidFill>
          <a:ln/>
        </p:spPr>
      </p:sp>
      <p:sp>
        <p:nvSpPr>
          <p:cNvPr id="9" name="Shape 7"/>
          <p:cNvSpPr/>
          <p:nvPr/>
        </p:nvSpPr>
        <p:spPr>
          <a:xfrm>
            <a:off x="5212080" y="1490472"/>
            <a:ext cx="457200" cy="18288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039112"/>
            <a:ext cx="8046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DC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039112"/>
            <a:ext cx="73152" cy="603504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ARHIAX Runtime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350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ATK · ledger HMAC · bifurcación epistémica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0" y="2203704"/>
            <a:ext cx="2286000" cy="182880"/>
          </a:xfrm>
          <a:prstGeom prst="rect">
            <a:avLst/>
          </a:prstGeom>
          <a:solidFill>
            <a:srgbClr val="E8E4DC"/>
          </a:solidFill>
          <a:ln/>
        </p:spPr>
      </p:sp>
      <p:sp>
        <p:nvSpPr>
          <p:cNvPr id="16" name="Shape 14"/>
          <p:cNvSpPr/>
          <p:nvPr/>
        </p:nvSpPr>
        <p:spPr>
          <a:xfrm>
            <a:off x="5212080" y="2203704"/>
            <a:ext cx="1828800" cy="18288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404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meses replicar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752344"/>
            <a:ext cx="8046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DC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752344"/>
            <a:ext cx="73152" cy="603504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816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Policy Bundle CO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 Rego v0.2 · Res. 1888 · Ley 1581 · D. 4725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12080" y="2916936"/>
            <a:ext cx="2286000" cy="182880"/>
          </a:xfrm>
          <a:prstGeom prst="rect">
            <a:avLst/>
          </a:prstGeom>
          <a:solidFill>
            <a:srgbClr val="E8E4DC"/>
          </a:solidFill>
          <a:ln/>
        </p:spPr>
      </p:sp>
      <p:sp>
        <p:nvSpPr>
          <p:cNvPr id="23" name="Shape 21"/>
          <p:cNvSpPr/>
          <p:nvPr/>
        </p:nvSpPr>
        <p:spPr>
          <a:xfrm>
            <a:off x="5212080" y="2916936"/>
            <a:ext cx="1371600" cy="18288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31181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meses replicar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465576"/>
            <a:ext cx="8046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DC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465576"/>
            <a:ext cx="73152" cy="603504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5295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Intelligence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3776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sistemático Salamatov · refresh continuo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212080" y="3630168"/>
            <a:ext cx="2286000" cy="182880"/>
          </a:xfrm>
          <a:prstGeom prst="rect">
            <a:avLst/>
          </a:prstGeom>
          <a:solidFill>
            <a:srgbClr val="E8E4DC"/>
          </a:solidFill>
          <a:ln/>
        </p:spPr>
      </p:sp>
      <p:sp>
        <p:nvSpPr>
          <p:cNvPr id="30" name="Shape 28"/>
          <p:cNvSpPr/>
          <p:nvPr/>
        </p:nvSpPr>
        <p:spPr>
          <a:xfrm>
            <a:off x="5212080" y="3630168"/>
            <a:ext cx="2286000" cy="18288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38313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 meses replicar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Nauta · Sinergia Consulting Group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que hace Nauta para el paciente.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Mismo paciente. Misma enfermedad. Dos sistemas distintos.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C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NAUTA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1 — psiquiatría: cuadro depresivo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2 — urgencias: convulsión, alta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3 — neurología: piden RM, sin resultado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4 — psiquiatría de nuevo, sin historia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5 — segunda crisis, hospitalización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6 — diagnóstico. Tarde.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3192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6F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NAUTA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92024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1 — síntomas en RDA Paciente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2 — convulsión queda en trayectoria atestada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2 — Nauta detecta patrón Graus 2016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2 — alerta al navegador clínico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2 — derivación a especialista AE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8B6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3 — inmunoterapia iniciada. A tiempo.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Nauta no diagnostica. Hace visible lo que ya existía disperso.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Nauta · Sinergia Consulting Group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cambia para la EPS.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entidad que demora a entidad que coordina.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73152" cy="132588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PQRS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quejas por demora en derivación, por pérdida de información, por citas duplicadas.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508760"/>
            <a:ext cx="73152" cy="132588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Res. 1888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Conformidad nativa con la regulación 2026-2027. Cero costo de migración posterior.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71800"/>
            <a:ext cx="73152" cy="132588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reputacional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medibles. Casos publicables. Narrativa de coordinación, no de litigio.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971800"/>
            <a:ext cx="73152" cy="132588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Tutelas evitadas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Trayectoria atestada documenta la diligencia. Reduce exposición jurídica frente a Defensoría.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EPS ya no es la que demora. Es la que coordina.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Nauta · Sinergia Consulting Group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financiero medible.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primer paciente bien diagnosticado paga la inversión anual de su IPS.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25-35M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anual por IPS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 institucional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377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C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554480"/>
            <a:ext cx="73152" cy="219456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91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6616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hospitalización evitada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 el ticket completo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377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C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554480"/>
            <a:ext cx="73152" cy="219456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91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450-875M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24 meses (COP)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8-15 IPS · sin EPS aún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estructural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venta de software. Es venta de tiempo recuperado de la vida del paciente, traducido en costo evitado del sistema.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Nauta · Sinergia Consulting Group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funciona en Colombia, funciona en LATAM.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Proyección territorial · únicamente como horizonte estratégico.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77724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2026-2027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7190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Beachhead Barranquilla · Bogotá · Medellín · ventana Res. 1888 abierta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73152" cy="77724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Andina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2027-2028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6334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Ecuador · Perú · Chile vía red REAL LABIC ya conectada en Barranquilla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83280"/>
            <a:ext cx="73152" cy="777240"/>
          </a:xfrm>
          <a:prstGeom prst="rect">
            <a:avLst/>
          </a:prstGeom>
          <a:solidFill>
            <a:srgbClr val="B898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5478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Sinergia BR vía Ferralu · bundle dedicado a regulación brasileña, sin copy-paste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6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Empezamos en Colombia porque aquí está la ventana. Crecemos en LATAM porque aquí está la doctrina.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Nauta · Sinergia Consulting Group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0" kern="0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ES AHORA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D2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convergencias raras en la misma ventana: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madura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9842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Graus 2016 + FHIR R4 + CDS Hooks consolidados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forzante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624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Resolución 1888 abre ventana de 18 meses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Cuadrante vacío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2644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competidor con la composición específica · FTO LOW-MEDIUM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98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fenómeno precede al agente.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trayectoria del paciente precede a la cura.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ARHIAX Nauta · Sinergia Consulting Group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ARHIAX Nauta · Hackathon</dc:title>
  <dc:subject>PptxGenJS Presentation</dc:subject>
  <dc:creator>Sinergia Consulting Group</dc:creator>
  <cp:lastModifiedBy>Sinergia Consulting Group</cp:lastModifiedBy>
  <cp:revision>1</cp:revision>
  <dcterms:created xsi:type="dcterms:W3CDTF">2026-05-23T17:50:40Z</dcterms:created>
  <dcterms:modified xsi:type="dcterms:W3CDTF">2026-05-23T17:50:40Z</dcterms:modified>
</cp:coreProperties>
</file>